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19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Evaluating and Improving Mathematical Reasoning</a:t>
            </a:r>
            <a:br/>
            <a:r>
              <a:t>in Large Language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BBCC"/>
                </a:solidFill>
                <a:latin typeface="Calibri"/>
              </a:defRPr>
            </a:pPr>
            <a:r>
              <a:t>CS6493 Natural Language Processing | City University of Hong Kong, Q2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lang="en-US" altLang="zh-CN" dirty="0" err="1"/>
              <a:t>Peihan</a:t>
            </a:r>
            <a:r>
              <a:rPr lang="en-US" altLang="zh-CN" dirty="0"/>
              <a:t> Yu</a:t>
            </a:r>
            <a:r>
              <a:rPr lang="zh-CN" altLang="en-US" dirty="0"/>
              <a:t> </a:t>
            </a:r>
            <a:r>
              <a:rPr dirty="0"/>
              <a:t>|  </a:t>
            </a:r>
            <a:r>
              <a:rPr lang="en-US" dirty="0" err="1"/>
              <a:t>Xuelin</a:t>
            </a:r>
            <a:r>
              <a:rPr lang="en-US" dirty="0"/>
              <a:t> Hu </a:t>
            </a:r>
            <a:r>
              <a:rPr dirty="0"/>
              <a:t>|</a:t>
            </a:r>
            <a:r>
              <a:rPr lang="en-US" dirty="0"/>
              <a:t>  Ziyan Weng</a:t>
            </a:r>
            <a:r>
              <a:rPr dirty="0"/>
              <a:t>  | </a:t>
            </a:r>
            <a:r>
              <a:rPr lang="en-US" dirty="0" err="1"/>
              <a:t>Haichao</a:t>
            </a:r>
            <a:r>
              <a:rPr lang="en-US" dirty="0"/>
              <a:t> Zhao </a:t>
            </a:r>
            <a:r>
              <a:rPr dirty="0"/>
              <a:t>|  </a:t>
            </a:r>
            <a:r>
              <a:rPr lang="en-US" dirty="0" err="1"/>
              <a:t>Leying</a:t>
            </a:r>
            <a:r>
              <a:rPr lang="en-US" dirty="0"/>
              <a:t> Deng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2743200" y="4846320"/>
            <a:ext cx="6675120" cy="82296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4937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Key Result: PVP achieves 64.0% accuracy, outperforming CoT baseline (57.5%)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Motivation &amp;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Why Mathematical Reasoning?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LLMs excel at language but struggle with mathematical reasoning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Math requires: multi-step deduction, precise arithmetic, formal reasoning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Real-world impact: education, science, 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t>Key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Can we improve LLM mathematical reasoning purely through better prompting - without retraining?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Systematic evaluation of 5 prompting strategies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Across 2 model scales and 2 benchmarks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Novel contribution: Progressive Verification Prompting (PVP)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Research Questions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828800"/>
          <a:ext cx="914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RQ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Research Question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RQ1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How do different prompt methods compare across model architectures?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RQ2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Can a verification-based prompt method (PVP) outperform standard CoT?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RQ3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How does problem difficulty interact with method effectiveness?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Background - Existing Prompt Methods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Idea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Chain-of-Thought (CoT)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"Think step by step" - elicits reasoning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Wei et al., NeurIPS 2022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Self-Consistency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Sample multiple paths, majority vote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Wang et al., NeurIPS 2022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Self-Refine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Generate &gt; Critique &gt; Refine (iterative)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Madaan et al., NeurIPS 2024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Least-to-Most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Decompose into sub-problems, solve sequentially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Zhou et al., NeurIPS 2023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8A"/>
                </a:solidFill>
                <a:latin typeface="Calibri"/>
              </a:defRPr>
            </a:pPr>
            <a:r>
              <a:t>Limitation of Existing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63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CoT: No error detection - errors cascade through steps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Self-Consistency: Requires 5x inference passes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Self-Refine: Post-hoc review may miss intermediate errors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Gap: No method combines single-pass efficiency with step-wise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Our Contribution - PVP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Progressive Verification 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Calibri"/>
              </a:defRPr>
            </a:pPr>
            <a:r>
              <a:t>Core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Insert self-verification checkpoints BETWEEN every reasoning step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For EACH reasoning step: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1. Complete the step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2. PAUSE - Verify: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- Is this step logically correct?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- Does it follow from the previous step?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- Are there arithmetic errors?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3. If error found &gt; correct immediately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4. Proceed to next step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Final: Overall consistency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8A"/>
                </a:solidFill>
                <a:latin typeface="Calibri"/>
              </a:defRPr>
            </a:pPr>
            <a:r>
              <a:t>Why PVP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Prevents cascading errors: Error at step 2 caught before propagating to steps 3, 4, ...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Decomposed verification: Checking one step is easier than reviewing entire solution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Single-pass: No extra inference calls - same latency as CoT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Models, Datasets, and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8A"/>
                </a:solidFill>
                <a:latin typeface="Calibri"/>
              </a:defRPr>
            </a:pPr>
            <a:r>
              <a:t>Models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5029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Qwen2.5-Math-1.5B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1.5B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Local GGUF CPU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Math-specialized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DeepSeek-R1-Qwen-1.5B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1.5B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Local GGUF CPU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General reasoning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8A"/>
                </a:solidFill>
                <a:latin typeface="Calibri"/>
              </a:defRPr>
            </a:pPr>
            <a:r>
              <a:t>Datasets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737360"/>
          <a:ext cx="50292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Difficulty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MATH-500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Competition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Algebra, Geometry, 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GSM8K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1,319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Grade school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Word problems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8A"/>
                </a:solidFill>
                <a:latin typeface="Calibri"/>
              </a:defRPr>
            </a:pPr>
            <a:r>
              <a:t>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Temperature: 0.0 (deterministic) | Max tokens: 2,048 | Seed: 42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Self-Consistency: 5 samples | Self-Refine: max 2 rounds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All inference on CPU (no GPU) via GGUF Q4_K_M quantization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30 Python modules | 63 unit tests | Checkpoint/resume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End-to-End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Math Problem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  |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[Prompt Engine] - 5 methods (CoT / Self-Consistency / Self-Refine / Least-to-Most / PVP)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  |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[Model Router] - Local (GGUF) or API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  |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[Answer Extractor] - \boxed{}, ####, regex fallback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  |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[Evaluator] - SymPy equivalence checking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  |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Results (JSON) + Visualizations (PNG) + Streamlit Web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 - Model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5029200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Correct/Total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Qwen2.5-Math-1.5B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65.83%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79/120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DeepSeek-R1-Qwen-1.5B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36.36%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16/44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 descr="fig1_accuracy_by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32502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Calibri"/>
              </a:defRPr>
            </a:pPr>
            <a:r>
              <a:t>Gap: +29.5 percentage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01768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rPr dirty="0"/>
              <a:t>Task-specific fine-tuning (Qwen2.5-Math) provides a far stronger foundation than general reasoning (DeepSeek-R1), regardless of prompting strategy.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 - Method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Accuracy Ranking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vs CoT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Least-to-Most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69.57%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+12.1%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Self-Refine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66.67%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+9.2%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PVP (Ours)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64.00%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CoT (Baseline)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57.45%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Self-Consistency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44.44%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Picture 6" descr="fig2_accuracy_by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26502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Top 3 methods all outperform CoT with different strategies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Self-Consistency fails with small 1.5B models - insufficient reasoning diversity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PVP achieves 3rd place while being the most efficient (single-pass)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 - PVP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PVP vs CoT 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PVP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Overall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57.45%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64.00%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+6.55%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MATH-500 Accuracy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52.5%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60.0%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+7.5%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GSM8K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Avg Latency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22-73s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24-31s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Same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Inference Calls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Calibri"/>
              </a:defRPr>
            </a:pPr>
            <a:r>
              <a:t>PVP vs Other Verification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82880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Latency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Self-Refine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66.67%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81-98s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PVP (Ours)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64.00%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24-31s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1x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Self-Consistency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44.44%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82-335s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3891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Calibri"/>
              </a:defRPr>
            </a:pPr>
            <a:r>
              <a:t>PVP achieves 97% of Self-Refine's accuracy at 30% of the cost</a:t>
            </a:r>
            <a:br/>
            <a:r>
              <a:t>Verification most beneficial on harder problems (MATH-500: +7.5%)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 - Efficiency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Accuracy vs Inference Cost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Latency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Efficiency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PVP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64.0%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~28s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Least-to-Most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69.6%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~43s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~47s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Self-Refine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66.7%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~89s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Self-Consistency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~208s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Worst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Picture 6" descr="fig7_latency_by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2528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3891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Key Finding: Longer responses do not equal higher accuracy.</a:t>
            </a:r>
            <a:br/>
            <a:r>
              <a:t>DeepSeek-R1 + Self-Consistency generates 24K+ chars but achieves only 25.0%.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Discussion &amp; Key Findings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Finding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Model choice &gt; prompt engineering - fine-tuning matters most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F2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Problem decomposition (Least-to-Most) is most effective for small models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Self-Consistency fails with small models (insufficient diversity)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F4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Verification-based methods (PVP, Self-Refine) consistently outperform CoT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PVP offers the best accuracy/efficiency trade-off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8A"/>
                </a:solidFill>
                <a:latin typeface="Calibri"/>
              </a:defRPr>
            </a:pPr>
            <a:r>
              <a:t>Practical Implications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For limited compute: Use PVP (best accuracy per inference dollar)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For maximum accuracy: Use Least-to-Most (highest overall accuracy)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Avoid Self-Consistency with models &lt; 7B parameters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Streamlit Interactive Solver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1. Select a model (Qwen2.5-Math / DeepSeek-R1)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2. Select a prompt method (CoT / PVP / Least-to-Most)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3. Enter or pick a math problem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4. See: full reasoning response &gt; extracted answer &gt; correctness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Side-by-side comparison: Same problem solved with CoT vs PVP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572000"/>
            <a:ext cx="5760720" cy="731520"/>
          </a:xfrm>
          <a:prstGeom prst="roundRect">
            <a:avLst/>
          </a:prstGeom>
          <a:solidFill>
            <a:srgbClr val="E8E8E8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0" y="46634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streamlit run src/app/main.py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Systematic evaluation: 5 methods x 2 models x 2 datasets = 164 problems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PVP is effective: +6.5% over CoT baseline with single-pass efficiency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Key insight: Task-specific models + structured prompting = best results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Open-source framework: Reproducible with pip install + documented 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Scale to larger models (7B, 70B) where PVP benefits may be amplified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Adaptive verification depth based on problem complexity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Combine PVP with Least-to-Most for decomposed + verified reasoning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DEE"/>
                </a:solidFill>
                <a:latin typeface="Calibri"/>
              </a:defRPr>
            </a:pPr>
            <a:r>
              <a:t>Resources:</a:t>
            </a:r>
            <a:br/>
            <a:r>
              <a:t>  Full results: results/RESULTS.md</a:t>
            </a:r>
            <a:br/>
            <a:r>
              <a:t>  Source code: src/ (30 Python modules)</a:t>
            </a:r>
            <a:br/>
            <a:r>
              <a:t>  Interactive demo: streamlit run src/app/main.py</a:t>
            </a:r>
            <a:br/>
            <a:r>
              <a:t>  Reproduce: See README.md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Backup: Detailed Per-Dataset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GSM8K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MATH-500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Qwen2.5-Math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Qwen2.5-Math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Self-Consistency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40.0%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65.0%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Qwen2.5-Math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Self-Refine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Qwen2.5-Math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Least-to-Most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65.0%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Qwen2.5-Math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PVP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DeepSeek-R1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CoT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35.0%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DeepSeek-R1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Self-Consistency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DeepSeek-R1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PVP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Backup: Model x Method Heatmap</a:t>
            </a:r>
          </a:p>
        </p:txBody>
      </p:sp>
      <p:pic>
        <p:nvPicPr>
          <p:cNvPr id="5" name="Picture 4" descr="fig5_heatmap_model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332" y="1143000"/>
            <a:ext cx="6845416" cy="2837148"/>
          </a:xfrm>
          <a:prstGeom prst="rect">
            <a:avLst/>
          </a:prstGeom>
        </p:spPr>
      </p:pic>
      <p:pic>
        <p:nvPicPr>
          <p:cNvPr id="6" name="Picture 5" descr="fig4_model_x_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858" y="4232398"/>
            <a:ext cx="4966283" cy="260310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Backup: Response Length vs Accuracy</a:t>
            </a:r>
          </a:p>
        </p:txBody>
      </p:sp>
      <p:pic>
        <p:nvPicPr>
          <p:cNvPr id="5" name="Picture 4" descr="fig6_length_vs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229600" cy="514048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Backup: Accuracy by Dataset</a:t>
            </a:r>
          </a:p>
        </p:txBody>
      </p:sp>
      <p:pic>
        <p:nvPicPr>
          <p:cNvPr id="5" name="Picture 4" descr="fig3_accuracy_by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4572000" cy="2954753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0" y="1371600"/>
          <a:ext cx="4572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Correct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GSM8K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75.00%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MATH-500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55.00%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Backup: Technology Stack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0" y="1371600"/>
          <a:ext cx="6400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Language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Python 3.10+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Local inference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llama-cpp-python (GGUF)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API inference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OpenAI SDK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Datasets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HuggingFace datasets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Math parsing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SymPy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Visualization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Matplotlib, Plotly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Web demo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Streamlit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Testing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pytest (63 tests)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1282</Words>
  <Application>Microsoft Office PowerPoint</Application>
  <PresentationFormat>宽屏</PresentationFormat>
  <Paragraphs>329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T166510</cp:lastModifiedBy>
  <cp:revision>4</cp:revision>
  <dcterms:created xsi:type="dcterms:W3CDTF">2013-01-27T09:14:16Z</dcterms:created>
  <dcterms:modified xsi:type="dcterms:W3CDTF">2026-04-09T02:41:16Z</dcterms:modified>
  <cp:category/>
</cp:coreProperties>
</file>